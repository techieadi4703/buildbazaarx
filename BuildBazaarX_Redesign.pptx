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48640"/>
            <a:ext cx="73152" cy="73152"/>
          </a:xfrm>
          <a:prstGeom prst="ellipse">
            <a:avLst/>
          </a:prstGeom>
          <a:solidFill>
            <a:srgbClr val="2E4038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548640"/>
            <a:ext cx="73152" cy="73152"/>
          </a:xfrm>
          <a:prstGeom prst="ellipse">
            <a:avLst/>
          </a:prstGeom>
          <a:solidFill>
            <a:srgbClr val="2E4038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48640"/>
            <a:ext cx="73152" cy="73152"/>
          </a:xfrm>
          <a:prstGeom prst="ellipse">
            <a:avLst/>
          </a:prstGeom>
          <a:solidFill>
            <a:srgbClr val="2E4038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914400"/>
            <a:ext cx="73152" cy="73152"/>
          </a:xfrm>
          <a:prstGeom prst="ellipse">
            <a:avLst/>
          </a:prstGeom>
          <a:solidFill>
            <a:srgbClr val="2E4038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914400"/>
            <a:ext cx="73152" cy="73152"/>
          </a:xfrm>
          <a:prstGeom prst="ellipse">
            <a:avLst/>
          </a:prstGeom>
          <a:solidFill>
            <a:srgbClr val="2E4038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914400"/>
            <a:ext cx="73152" cy="73152"/>
          </a:xfrm>
          <a:prstGeom prst="ellipse">
            <a:avLst/>
          </a:prstGeom>
          <a:solidFill>
            <a:srgbClr val="2E40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BuildBazaarX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200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Wizard</a:t>
            </a:r>
            <a:pPr indent="0" marL="0">
              <a:buNone/>
            </a:pPr>
            <a:r>
              <a:rPr lang="en-US" sz="20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the  </a:t>
            </a:r>
            <a:pPr indent="0" marL="0">
              <a:buNone/>
            </a:pPr>
            <a:r>
              <a:rPr lang="en-US" sz="2000" i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pPr indent="0" marL="0">
              <a:buNone/>
            </a:pPr>
            <a:r>
              <a:rPr lang="en-US" sz="20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Interior Projects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19050">
            <a:solidFill>
              <a:srgbClr val="2E4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audit and redesign: from a linear, single-persona wizard to a persistent, multi-role, explainable-AI product.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548994" cy="384048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74920"/>
            <a:ext cx="154899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36546" y="5074920"/>
            <a:ext cx="1548994" cy="384048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6546" y="5074920"/>
            <a:ext cx="154899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0131" y="5074920"/>
            <a:ext cx="1638605" cy="384048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0131" y="5074920"/>
            <a:ext cx="163860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5074920"/>
            <a:ext cx="1369771" cy="384048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5074920"/>
            <a:ext cx="13697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funnel. Not yet a platform.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32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product is a linear, single-persona (homeowner) wizard: Requirements → Space Planning → 3D Design → BOQ → Shopping. It converts well — but it has no project state, no collaboration, no professional users, and its “AI” reads as pre-baked outputs rather than reasoning.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E7F2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95020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five steps as one module (Design Studio) inside a larger product with Project Home, People &amp; Roles, Procurement, and a Trust layer running underneath everything.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ONE-WAY WIZARD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1600200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600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03920" y="19659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112264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1122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Planning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03920" y="24780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2624328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24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Design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03920" y="29900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136392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136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0" y="35021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3648456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6484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4434840"/>
            <a:ext cx="4297680" cy="0"/>
          </a:xfrm>
          <a:prstGeom prst="line">
            <a:avLst/>
          </a:prstGeom>
          <a:noFill/>
          <a:ln w="12700">
            <a:solidFill>
              <a:srgbClr val="E7E5E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37960" y="4590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— PERSISTENT &amp; EDITABLE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4919472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16211C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53218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· Layout · Visualize · Estimate · Procure — versioned tabs inside a Project, not a one-shot wizard.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AUDIT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gaps, screen by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6" name="Image 0" descr="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07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draft-save, no OCR confidence check, no multi-property support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1" name="Image 1" descr="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Planning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807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scores, no structural data, no version history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6" name="Image 2" descr="icons/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19595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Design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807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cost feedback, no render-queue transparency, no AR/VR entry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21" name="Image 3" descr="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BOQ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956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comparison, no tier toggle, no contractor export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397764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26" name="Image 4" descr="icons/c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41083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4956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awareness, no install scheduling, no order tracking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6760" y="3977640"/>
            <a:ext cx="502920" cy="50292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1" name="Image 5" descr="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519" y="41083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4956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no roles, no comments, no visible AI confidence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diagnosis: the product optimizes for a single, uninterrupted happy path — real projects are collaborative, revised, and span months.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become first-class objects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211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BuildBazaarX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0" cy="320040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21408"/>
            <a:ext cx="9875520" cy="0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4460" y="2121408"/>
            <a:ext cx="0" cy="164592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3260" y="2121408"/>
            <a:ext cx="0" cy="164592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F6F4A"/>
          </a:solidFill>
          <a:ln w="12700">
            <a:solidFill>
              <a:srgbClr val="1F6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52060" y="2121408"/>
            <a:ext cx="0" cy="164592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80860" y="2121408"/>
            <a:ext cx="0" cy="164592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09660" y="2121408"/>
            <a:ext cx="0" cy="164592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Contractor Hub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38460" y="2121408"/>
            <a:ext cx="0" cy="164592"/>
          </a:xfrm>
          <a:prstGeom prst="line">
            <a:avLst/>
          </a:prstGeom>
          <a:noFill/>
          <a:ln w="15875">
            <a:solidFill>
              <a:srgbClr val="E7E5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2286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3260" y="2743200"/>
            <a:ext cx="0" cy="502920"/>
          </a:xfrm>
          <a:prstGeom prst="line">
            <a:avLst/>
          </a:prstGeom>
          <a:noFill/>
          <a:ln w="19050">
            <a:solidFill>
              <a:srgbClr val="1F6F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35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Project ]  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4612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77440" y="32461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E7F2EC"/>
          </a:solidFill>
          <a:ln w="12700">
            <a:solidFill>
              <a:srgbClr val="1F6F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24612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32461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324612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2461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24612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63840" y="32461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324612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Versions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92640" y="32461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38360" y="324612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Comments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23260" y="3685032"/>
            <a:ext cx="0" cy="475488"/>
          </a:xfrm>
          <a:prstGeom prst="line">
            <a:avLst/>
          </a:prstGeom>
          <a:noFill/>
          <a:ln w="19050">
            <a:solidFill>
              <a:srgbClr val="1F6F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8313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— PERSISTENT, VERSIONED TABS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16052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16211C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" y="424281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58368" y="45720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“Requirements”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52344" y="416052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16211C"/>
          </a:solidFill>
          <a:ln/>
        </p:spPr>
      </p:sp>
      <p:sp>
        <p:nvSpPr>
          <p:cNvPr id="46" name="Text 44"/>
          <p:cNvSpPr/>
          <p:nvPr/>
        </p:nvSpPr>
        <p:spPr>
          <a:xfrm>
            <a:off x="2862072" y="424281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2862072" y="45720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“Space Planning”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56048" y="416052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16211C"/>
          </a:solidFill>
          <a:ln/>
        </p:spPr>
      </p:sp>
      <p:sp>
        <p:nvSpPr>
          <p:cNvPr id="49" name="Text 47"/>
          <p:cNvSpPr/>
          <p:nvPr/>
        </p:nvSpPr>
        <p:spPr>
          <a:xfrm>
            <a:off x="5065776" y="424281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5065776" y="45720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“3D Design”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59752" y="416052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16211C"/>
          </a:solidFill>
          <a:ln/>
        </p:spPr>
      </p:sp>
      <p:sp>
        <p:nvSpPr>
          <p:cNvPr id="52" name="Text 50"/>
          <p:cNvSpPr/>
          <p:nvPr/>
        </p:nvSpPr>
        <p:spPr>
          <a:xfrm>
            <a:off x="7269480" y="424281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7269480" y="45720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“BOQ”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363456" y="416052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16211C"/>
          </a:solidFill>
          <a:ln/>
        </p:spPr>
      </p:sp>
      <p:sp>
        <p:nvSpPr>
          <p:cNvPr id="55" name="Text 53"/>
          <p:cNvSpPr/>
          <p:nvPr/>
        </p:nvSpPr>
        <p:spPr>
          <a:xfrm>
            <a:off x="9473184" y="424281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9473184" y="45720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“Shopping”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nested under Project turns the 5 steps from a one-way wizard into editable, versioned tabs — while Marketplace stays decoupled so a returning customer can reorder without re-running the AI flow.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shell, four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personas log into the same app shell — the sidebar reconfigures by role rather than shipping separate products.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651760" cy="9144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331720"/>
            <a:ext cx="548640" cy="54864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8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4743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01752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Homeowner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675888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DESTINATION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4672" y="389534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Projects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" y="4343400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MODULES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4672" y="46177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50017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4672" y="5385816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booking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83280" y="2011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83280" y="2011680"/>
            <a:ext cx="2651760" cy="9144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18" name="Shape 15"/>
          <p:cNvSpPr/>
          <p:nvPr/>
        </p:nvSpPr>
        <p:spPr>
          <a:xfrm>
            <a:off x="3639312" y="2331720"/>
            <a:ext cx="548640" cy="54864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9" name="Image 1" descr="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958" y="247436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39312" y="301752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 / Designer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39312" y="3675888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DESTINATION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639312" y="389534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(multi-client)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639312" y="4343400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MODULES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639312" y="46177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management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639312" y="50017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override tools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639312" y="5385816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export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217920" y="2011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217920" y="2011680"/>
            <a:ext cx="2651760" cy="9144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29" name="Shape 25"/>
          <p:cNvSpPr/>
          <p:nvPr/>
        </p:nvSpPr>
        <p:spPr>
          <a:xfrm>
            <a:off x="6473952" y="2331720"/>
            <a:ext cx="548640" cy="54864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30" name="Image 2" descr="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474366"/>
            <a:ext cx="263347" cy="26334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73952" y="301752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Contractor / Builder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6473952" y="3675888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DESTINATION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473952" y="389534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Hub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473952" y="4343400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MODULES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473952" y="46177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execution view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473952" y="50017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scheduling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473952" y="5385816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 photos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9052560" y="2011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9052560" y="2011680"/>
            <a:ext cx="2651760" cy="9144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40" name="Shape 35"/>
          <p:cNvSpPr/>
          <p:nvPr/>
        </p:nvSpPr>
        <p:spPr>
          <a:xfrm>
            <a:off x="9308592" y="2331720"/>
            <a:ext cx="548640" cy="54864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41" name="Image 3" descr="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38" y="2474366"/>
            <a:ext cx="263347" cy="263347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308592" y="301752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Supplier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9308592" y="3675888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DESTINATION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9308592" y="389534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Hub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9308592" y="4343400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MODULES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9308592" y="46177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sync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9308592" y="50017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queue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9308592" y="5385816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management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 FLOWS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flows the platform must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6F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270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homeowner project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34440" y="1883664"/>
            <a:ext cx="1338682" cy="256032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883664"/>
            <a:ext cx="13386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conversion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43400" y="1554480"/>
            <a:ext cx="7269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→ Brief → AI Layout options → Visualize → Estimate → Procure → Timeline auto-created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11064240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41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6F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140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after approval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34440" y="2770632"/>
            <a:ext cx="1391717" cy="256032"/>
          </a:xfrm>
          <a:prstGeom prst="roundRect">
            <a:avLst>
              <a:gd name="adj" fmla="val 50000"/>
            </a:avLst>
          </a:prstGeom>
          <a:solidFill>
            <a:srgbClr val="ED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770632"/>
            <a:ext cx="13917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5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exist today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43400" y="2441448"/>
            <a:ext cx="7269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change → AI diff (cost + timeline impact) → approve → new version, old preserved, downstream flagged out-of-sync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11064240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284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6F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30098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34440" y="36576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3657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43400" y="3328416"/>
            <a:ext cx="7269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invites architect → edit rights on Layout/Visualize → comment threads → approval required before Procure unlocks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11064240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15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6F4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187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Contractor execution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234440" y="45445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Hub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43400" y="4215384"/>
            <a:ext cx="7269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project → Estimate becomes a task list → log site progress → homeowner sees real-time updates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056632"/>
            <a:ext cx="11064240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1023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6F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444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fulfillment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234440" y="543153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/>
        </p:spPr>
      </p:sp>
      <p:sp>
        <p:nvSpPr>
          <p:cNvPr id="36" name="Text 34"/>
          <p:cNvSpPr/>
          <p:nvPr/>
        </p:nvSpPr>
        <p:spPr>
          <a:xfrm>
            <a:off x="1234440" y="54315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Hub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43400" y="5102352"/>
            <a:ext cx="7269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routed by SKU/region → supplier confirms stock → install auto-scheduled against Timeline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precision, not decoration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94560"/>
            <a:ext cx="640080" cy="64008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063240"/>
            <a:ext cx="2935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precision over decoration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886200"/>
            <a:ext cx="2935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handles money and structural decisions — it should feel closer to a financial dashboard than a mood board.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0288" y="2194560"/>
            <a:ext cx="640080" cy="64008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1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3609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063240"/>
            <a:ext cx="2935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 output is explainable inline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90288" y="3886200"/>
            <a:ext cx="2935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bare number or image; always a one-line “why” the moment it appears.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2194560"/>
            <a:ext cx="640080" cy="640080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6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749" y="23609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3063240"/>
            <a:ext cx="2935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disclosure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39328" y="3886200"/>
            <a:ext cx="2935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views stay simple; density is available on demand — a toggle, not a separate screen.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Tokens: color, type, and rhythm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FAFAF9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03504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#FAFAF9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65376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20240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82112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E7E5E2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36976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#E7E5E2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98848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1C1B1A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primary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53712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#1C1B1A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15584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6B6864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secondary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70448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#6B6864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32320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1F6F4A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87184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#1F6F4A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49056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E7F2EC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soft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03920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#E7F2EC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765792" y="1874520"/>
            <a:ext cx="1225296" cy="960120"/>
          </a:xfrm>
          <a:prstGeom prst="roundRect">
            <a:avLst>
              <a:gd name="adj" fmla="val 5714"/>
            </a:avLst>
          </a:prstGeom>
          <a:solidFill>
            <a:srgbClr val="6D5EF5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0656" y="242316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signal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20656" y="265176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#6D5EF5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93008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  </a:t>
            </a:r>
            <a:pPr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Display — tight tracking
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724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 </a:t>
            </a:r>
            <a:pPr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body / UI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B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12,450  </a:t>
            </a:r>
            <a:pPr indent="0" marL="0">
              <a:buNone/>
            </a:pPr>
            <a:r>
              <a:rPr lang="en-US" sz="11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Tabular — critical for BOQ columns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63640" y="3200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RADIUS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493008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375976"/>
            <a:ext cx="320040" cy="104585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59168" y="4344543"/>
            <a:ext cx="320040" cy="136017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39" name="Text 37"/>
          <p:cNvSpPr/>
          <p:nvPr/>
        </p:nvSpPr>
        <p:spPr>
          <a:xfrm>
            <a:off x="7013448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26096" y="4313111"/>
            <a:ext cx="320040" cy="16745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41" name="Text 39"/>
          <p:cNvSpPr/>
          <p:nvPr/>
        </p:nvSpPr>
        <p:spPr>
          <a:xfrm>
            <a:off x="7580376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193024" y="4281678"/>
            <a:ext cx="320040" cy="198882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47304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759952" y="4218813"/>
            <a:ext cx="320040" cy="261747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45" name="Text 43"/>
          <p:cNvSpPr/>
          <p:nvPr/>
        </p:nvSpPr>
        <p:spPr>
          <a:xfrm>
            <a:off x="8714232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326880" y="4155948"/>
            <a:ext cx="320040" cy="324612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47" name="Text 45"/>
          <p:cNvSpPr/>
          <p:nvPr/>
        </p:nvSpPr>
        <p:spPr>
          <a:xfrm>
            <a:off x="9281160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9893808" y="4030218"/>
            <a:ext cx="320040" cy="450342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49" name="Text 47"/>
          <p:cNvSpPr/>
          <p:nvPr/>
        </p:nvSpPr>
        <p:spPr>
          <a:xfrm>
            <a:off x="9848088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460736" y="3904488"/>
            <a:ext cx="320040" cy="576072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51" name="Text 49"/>
          <p:cNvSpPr/>
          <p:nvPr/>
        </p:nvSpPr>
        <p:spPr>
          <a:xfrm>
            <a:off x="10415016" y="44988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492240" y="473659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Radius:  8 controls · 12 cards · 20 modals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495604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 150ms micro · 250ms panels · spring on drag only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(BOQ, pricing) always use tabular figures — digits must not jitter horizontally as values change.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components that make AI feel like one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92808"/>
            <a:ext cx="566928" cy="566928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0402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Chip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3081528"/>
            <a:ext cx="2139696" cy="384048"/>
          </a:xfrm>
          <a:prstGeom prst="roundRect">
            <a:avLst>
              <a:gd name="adj" fmla="val 19048"/>
            </a:avLst>
          </a:prstGeom>
          <a:solidFill>
            <a:srgbClr val="EDEBFC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0815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5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92% confident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611880"/>
            <a:ext cx="213969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pill next to any AI output; hover reveals reasoning + tradeoffs. Identical in Layout, Visualize, and Estimate.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383280" y="16002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9312" y="1892808"/>
            <a:ext cx="566928" cy="566928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13" name="Image 1" descr="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713" y="204020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606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Drawer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39312" y="3081528"/>
            <a:ext cx="2139696" cy="384048"/>
          </a:xfrm>
          <a:prstGeom prst="roundRect">
            <a:avLst>
              <a:gd name="adj" fmla="val 19048"/>
            </a:avLst>
          </a:prstGeom>
          <a:solidFill>
            <a:srgbClr val="EDEBFC"/>
          </a:solidFill>
          <a:ln/>
        </p:spPr>
      </p:sp>
      <p:sp>
        <p:nvSpPr>
          <p:cNvPr id="16" name="Text 12"/>
          <p:cNvSpPr/>
          <p:nvPr/>
        </p:nvSpPr>
        <p:spPr>
          <a:xfrm>
            <a:off x="3639312" y="30815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5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changed · Why · Cost · Timeline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39312" y="3611880"/>
            <a:ext cx="213969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slide-out pattern everywhere an AI decision needs to be inspected before or after it's made.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217920" y="16002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3952" y="1892808"/>
            <a:ext cx="566928" cy="566928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20" name="Image 2" descr="icons/g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353" y="2040209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3952" y="2606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Rail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73952" y="3081528"/>
            <a:ext cx="2139696" cy="384048"/>
          </a:xfrm>
          <a:prstGeom prst="roundRect">
            <a:avLst>
              <a:gd name="adj" fmla="val 19048"/>
            </a:avLst>
          </a:prstGeom>
          <a:solidFill>
            <a:srgbClr val="EDEBFC"/>
          </a:solidFill>
          <a:ln/>
        </p:spPr>
      </p:sp>
      <p:sp>
        <p:nvSpPr>
          <p:cNvPr id="23" name="Text 18"/>
          <p:cNvSpPr/>
          <p:nvPr/>
        </p:nvSpPr>
        <p:spPr>
          <a:xfrm>
            <a:off x="6473952" y="30815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5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→ v2 → v3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73952" y="3611880"/>
            <a:ext cx="213969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strip above any editable canvas — Layout, Visualize, BOQ — with diff-on-hover between versions.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9052560" y="16002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08592" y="1892808"/>
            <a:ext cx="566928" cy="566928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27" name="Image 3" descr="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993" y="2040209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08592" y="2606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Delta Badge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308592" y="3081528"/>
            <a:ext cx="2139696" cy="384048"/>
          </a:xfrm>
          <a:prstGeom prst="roundRect">
            <a:avLst>
              <a:gd name="adj" fmla="val 19048"/>
            </a:avLst>
          </a:prstGeom>
          <a:solidFill>
            <a:srgbClr val="EDEBFC"/>
          </a:solidFill>
          <a:ln/>
        </p:spPr>
      </p:sp>
      <p:sp>
        <p:nvSpPr>
          <p:cNvPr id="30" name="Text 24"/>
          <p:cNvSpPr/>
          <p:nvPr/>
        </p:nvSpPr>
        <p:spPr>
          <a:xfrm>
            <a:off x="9308592" y="30815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5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+₹4,200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08592" y="3611880"/>
            <a:ext cx="213969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live during any edit, color-coded. A material swap or layout change is never a silent cost change.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— SCREENS 1/2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&amp;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777240"/>
          </a:xfrm>
          <a:prstGeom prst="rect">
            <a:avLst/>
          </a:prstGeom>
          <a:solidFill>
            <a:srgbClr val="1621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4825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“Requirements”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capture a real design brief in under 5 minutes without feeling like a 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962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intake — draft autosave, “continue where you left off”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5295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OCR-extracted fact shown as an editable chip with confidence (“Living Room: 16′×14′, 87% confident”)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0965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/ Pinterest URL ingestion feeds a style-vector the AI cites later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00200"/>
            <a:ext cx="5440680" cy="777240"/>
          </a:xfrm>
          <a:prstGeom prst="rect">
            <a:avLst/>
          </a:prstGeom>
          <a:solidFill>
            <a:srgbClr val="1621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04825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“Space Planning”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5420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each score explainable, editable, and safe to iterate 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072384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2962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5 scores is clickable → reasoning drawer shows the exact rule applied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46520" y="3639312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35295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/ door-swing overlay + structural overlay flagged “assumed” if unconfirmed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46520" y="4206240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40965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rail: “Tell AI: bigger kitchen” creates v2, never destroys v1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46520" y="4773168"/>
            <a:ext cx="82296" cy="82296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7" name="Text 25"/>
          <p:cNvSpPr/>
          <p:nvPr/>
        </p:nvSpPr>
        <p:spPr>
          <a:xfrm>
            <a:off x="6647688" y="4663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Multi-cursor presence dot when a collaborator is viewing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— SCREENS 3–5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Visualize, Estimate &amp; Procure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68580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“3D Design”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414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swap shows live cost delta + confidence (“exact SKU” vs “closest match”)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77240" y="3410712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826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Lock / Approve — edits need explicit unlock after sign-off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77240" y="4251960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39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queue is visible; AR/VR are real toolbar entry points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600200"/>
            <a:ext cx="3611880" cy="68580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6733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19933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“BOQ”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2569464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4414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/ Standard / Premium toggle re-prices instantly, category by category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26280" y="3410712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2826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saving ships with reasoning, not a silent number change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526280" y="4251960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1239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(5%) and regional labor rate shown as visible line items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26280" y="5093208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965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contractor export, distinct from the customer PDF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046720" y="160020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600200"/>
            <a:ext cx="3611880" cy="685800"/>
          </a:xfrm>
          <a:prstGeom prst="rect">
            <a:avLst/>
          </a:prstGeom>
          <a:solidFill>
            <a:srgbClr val="1F6F4A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16733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75320" y="19933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“Shopping List”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75320" y="2569464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24414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Better Options” shows why — price, rating, delivery speed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275320" y="3410712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32826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 time / stock status per SKU; EMI selector at cart level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8275320" y="4251960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1239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date picker feeds the Project Timeline automatically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275320" y="5093208"/>
            <a:ext cx="73152" cy="73152"/>
          </a:xfrm>
          <a:prstGeom prst="ellipse">
            <a:avLst/>
          </a:prstGeom>
          <a:solidFill>
            <a:srgbClr val="1F6F4A"/>
          </a:solidFill>
          <a:ln/>
        </p:spPr>
      </p:sp>
      <p:sp>
        <p:nvSpPr>
          <p:cNvPr id="37" name="Text 35"/>
          <p:cNvSpPr/>
          <p:nvPr/>
        </p:nvSpPr>
        <p:spPr>
          <a:xfrm>
            <a:off x="8458200" y="4965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is this screen's next state, not a dead end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primitives, domain-oriented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37590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83759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95958" y="181051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5958" y="1810512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84678" y="1810512"/>
            <a:ext cx="918058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4678" y="1810512"/>
            <a:ext cx="9180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1810512"/>
            <a:ext cx="998525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810512"/>
            <a:ext cx="9985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20717" y="1810512"/>
            <a:ext cx="1320394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0717" y="1810512"/>
            <a:ext cx="13203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0838" y="1810512"/>
            <a:ext cx="1400861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0838" y="1810512"/>
            <a:ext cx="140086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61427" y="1810512"/>
            <a:ext cx="837590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61427" y="1810512"/>
            <a:ext cx="83759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08746" y="1810512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8746" y="1810512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PRIMITIVES — BUILT ONCE, USED IN ALL 5 STEPS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633472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6D5EF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3347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ConfidenceChip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52344" y="2633472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6D5EF5"/>
          </a:solidFill>
          <a:ln/>
        </p:spPr>
      </p:sp>
      <p:sp>
        <p:nvSpPr>
          <p:cNvPr id="25" name="Text 23"/>
          <p:cNvSpPr/>
          <p:nvPr/>
        </p:nvSpPr>
        <p:spPr>
          <a:xfrm>
            <a:off x="2752344" y="263347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ReasoningDrawer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2633472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6D5EF5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263347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VersionRail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9752" y="2633472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6D5EF5"/>
          </a:solidFill>
          <a:ln/>
        </p:spPr>
      </p:sp>
      <p:sp>
        <p:nvSpPr>
          <p:cNvPr id="29" name="Text 27"/>
          <p:cNvSpPr/>
          <p:nvPr/>
        </p:nvSpPr>
        <p:spPr>
          <a:xfrm>
            <a:off x="7159752" y="263347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CostDeltaBadge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63456" y="2633472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6D5EF5"/>
          </a:solidFill>
          <a:ln/>
        </p:spPr>
      </p:sp>
      <p:sp>
        <p:nvSpPr>
          <p:cNvPr id="31" name="Text 29"/>
          <p:cNvSpPr/>
          <p:nvPr/>
        </p:nvSpPr>
        <p:spPr>
          <a:xfrm>
            <a:off x="9363456" y="263347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CommentAnchor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401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— DOMAIN-ORIENTED, NOT MONOLITH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70332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56816" y="3703320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84248" y="370332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64992" y="3703320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370332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3703320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70332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215384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421538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56816" y="4215384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84248" y="421538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64992" y="4215384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92424" y="421538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73168" y="4215384"/>
            <a:ext cx="1316736" cy="420624"/>
          </a:xfrm>
          <a:prstGeom prst="roundRect">
            <a:avLst>
              <a:gd name="adj" fmla="val 13043"/>
            </a:avLst>
          </a:prstGeom>
          <a:solidFill>
            <a:srgbClr val="1F2E27"/>
          </a:solidFill>
          <a:ln w="12700">
            <a:solidFill>
              <a:srgbClr val="2E40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421538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3796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537960" y="1810512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F2E27"/>
          </a:solidFill>
          <a:ln w="12700">
            <a:solidFill>
              <a:srgbClr val="1F6F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18562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layer (LLM)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2112264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→ constraints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869680" y="23591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37960" y="2523744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F2E27"/>
          </a:solidFill>
          <a:ln w="12700">
            <a:solidFill>
              <a:srgbClr val="1F6F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256946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solver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282549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/ optimization engine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69680" y="307238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37960" y="3236976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1F2E27"/>
          </a:solidFill>
          <a:ln w="12700">
            <a:solidFill>
              <a:srgbClr val="1F6F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32826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layer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720840" y="3538728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/ 3D pipeline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37960" y="40233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6D5EF5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4133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AI ENVELOPE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766560" y="4434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result, confidence, reasoning[],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tradeoffs[], cost_impact,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timeline_impact, alternatives[] }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766560" y="5349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DE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Confidence Chip and Reasoning Drawer everywhere — explainability is structural, not a UI afterthought.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version-aware schema, API surface to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28800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owner_id, status, budget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0487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project_members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240487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project_id, user_id, role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98094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briefs / layouts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298094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geometry / structured_data, confidence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57016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3557016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layout_id, room_id, materials, locked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33088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133088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boq_items → orders → order_items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413308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cost_tier, sku, supplier_id, lead_time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09160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 / approvals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470916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anchor_type, anchor_id, 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285232"/>
            <a:ext cx="5394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28523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ai_outputs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97480" y="528523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confidence, reasoning JSONB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API SURFACE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82880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6211C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0299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86600" y="20299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/projects/:id/brief/messages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243230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86600" y="243230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/projects/:id/layout/generate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2834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86600" y="2834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/projects/:id/layout/:v/edit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32369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323697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/projects/:id/visualize/render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92240" y="36393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86600" y="3639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/projects/:id/estimate/recalculate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40416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86600" y="4041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/projects/:id/versions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92240" y="44439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86600" y="44439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/marketplace/orders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516636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upstream edit (layout, materials) triggers estimate/recalculate — BOQ is always derived, never hand-reconciled.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TRUST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trust, built from the same primitives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6" name="Image 0" descr="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12104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842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take-rate on GMV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420624" cy="420624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9" name="Image 1" descr="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3017154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/ EMI referral fee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803904"/>
            <a:ext cx="420624" cy="420624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2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913266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7764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for architects &amp; contractors — multi-client dashboard, white-label export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700016"/>
            <a:ext cx="420624" cy="420624"/>
          </a:xfrm>
          <a:prstGeom prst="ellipse">
            <a:avLst/>
          </a:prstGeom>
          <a:solidFill>
            <a:srgbClr val="1F6F4A"/>
          </a:solidFill>
          <a:ln/>
        </p:spPr>
      </p:sp>
      <p:pic>
        <p:nvPicPr>
          <p:cNvPr id="15" name="Image 3" descr="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809378"/>
            <a:ext cx="201900" cy="201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6725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lead-gen fee for priority placement — clearly labeled, never disguised as an AI recommendation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26364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5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LEVERS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63640" y="2011680"/>
            <a:ext cx="420624" cy="420624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002" y="2121042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0" y="19842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everywhere, reasoning drawers on demand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263640" y="2743200"/>
            <a:ext cx="420624" cy="420624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22" name="Image 5" descr="icons/g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002" y="2852562"/>
            <a:ext cx="201900" cy="201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27157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across the whole Design Studio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263640" y="3474720"/>
            <a:ext cx="420624" cy="420624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25" name="Image 6" descr="icons/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002" y="3584082"/>
            <a:ext cx="201900" cy="2019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58000" y="34472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SKU-linked renders — what you see is what ships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263640" y="4206240"/>
            <a:ext cx="420624" cy="420624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28" name="Image 7" descr="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002" y="4315602"/>
            <a:ext cx="201900" cy="2019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58000" y="41788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labor / GST / contingency lines, verified-supplier badges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6263640" y="4937760"/>
            <a:ext cx="420624" cy="420624"/>
          </a:xfrm>
          <a:prstGeom prst="ellipse">
            <a:avLst/>
          </a:prstGeom>
          <a:solidFill>
            <a:srgbClr val="6D5EF5"/>
          </a:solidFill>
          <a:ln/>
        </p:spPr>
      </p:sp>
      <p:pic>
        <p:nvPicPr>
          <p:cNvPr id="31" name="Image 8" descr="icons/tru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002" y="5047122"/>
            <a:ext cx="201900" cy="2019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858000" y="4910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order and installation tracking after checkout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zero to twelve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91056" y="2167128"/>
            <a:ext cx="8887968" cy="0"/>
          </a:xfrm>
          <a:prstGeom prst="line">
            <a:avLst/>
          </a:prstGeom>
          <a:noFill/>
          <a:ln w="25400">
            <a:solidFill>
              <a:srgbClr val="E7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2066544"/>
            <a:ext cx="201168" cy="201168"/>
          </a:xfrm>
          <a:prstGeom prst="ellipse">
            <a:avLst/>
          </a:prstGeom>
          <a:solidFill>
            <a:srgbClr val="1F6F4A"/>
          </a:solidFill>
          <a:ln w="38100">
            <a:solidFill>
              <a:srgbClr val="FAFA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5176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F6F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919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840480"/>
            <a:ext cx="1810512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7764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Project/version data model, design system tokens + shared components, resumable Brief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12464" y="2066544"/>
            <a:ext cx="201168" cy="201168"/>
          </a:xfrm>
          <a:prstGeom prst="ellipse">
            <a:avLst/>
          </a:prstGeom>
          <a:solidFill>
            <a:srgbClr val="1F6F4A"/>
          </a:solidFill>
          <a:ln w="38100">
            <a:solidFill>
              <a:srgbClr val="FAFA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0632" y="265176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0632" y="265176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F6F4A"/>
          </a:solidFill>
          <a:ln/>
        </p:spPr>
      </p:sp>
      <p:sp>
        <p:nvSpPr>
          <p:cNvPr id="16" name="Text 14"/>
          <p:cNvSpPr/>
          <p:nvPr/>
        </p:nvSpPr>
        <p:spPr>
          <a:xfrm>
            <a:off x="2770632" y="267919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70632" y="288950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07792" y="3246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Core Loop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07792" y="3840480"/>
            <a:ext cx="1810512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397764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scoring with real reasoning, Estimate tiers, live cost-delta feedback in Visualize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2066544"/>
            <a:ext cx="201168" cy="201168"/>
          </a:xfrm>
          <a:prstGeom prst="ellipse">
            <a:avLst/>
          </a:prstGeom>
          <a:solidFill>
            <a:srgbClr val="1F6F4A"/>
          </a:solidFill>
          <a:ln w="38100">
            <a:solidFill>
              <a:srgbClr val="FAFA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2624" y="265176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2624" y="265176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F6F4A"/>
          </a:solidFill>
          <a:ln/>
        </p:spPr>
      </p:sp>
      <p:sp>
        <p:nvSpPr>
          <p:cNvPr id="24" name="Text 22"/>
          <p:cNvSpPr/>
          <p:nvPr/>
        </p:nvSpPr>
        <p:spPr>
          <a:xfrm>
            <a:off x="4992624" y="267919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288950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9784" y="3246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9784" y="3840480"/>
            <a:ext cx="1810512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397764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approvals, multi-role access, contractor/supplier hub MVP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56448" y="2066544"/>
            <a:ext cx="201168" cy="201168"/>
          </a:xfrm>
          <a:prstGeom prst="ellipse">
            <a:avLst/>
          </a:prstGeom>
          <a:solidFill>
            <a:srgbClr val="1F6F4A"/>
          </a:solidFill>
          <a:ln w="38100">
            <a:solidFill>
              <a:srgbClr val="FAFA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14616" y="265176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14616" y="265176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F6F4A"/>
          </a:solidFill>
          <a:ln/>
        </p:spPr>
      </p:sp>
      <p:sp>
        <p:nvSpPr>
          <p:cNvPr id="32" name="Text 30"/>
          <p:cNvSpPr/>
          <p:nvPr/>
        </p:nvSpPr>
        <p:spPr>
          <a:xfrm>
            <a:off x="7214616" y="267919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14616" y="288950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51776" y="3246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Depth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51776" y="3840480"/>
            <a:ext cx="1810512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397764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inventory/lead-time, EMI/financing, installation scheduling, order tracking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378440" y="2066544"/>
            <a:ext cx="201168" cy="201168"/>
          </a:xfrm>
          <a:prstGeom prst="ellipse">
            <a:avLst/>
          </a:prstGeom>
          <a:solidFill>
            <a:srgbClr val="1F6F4A"/>
          </a:solidFill>
          <a:ln w="38100">
            <a:solidFill>
              <a:srgbClr val="FAFA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36608" y="265176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5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36608" y="265176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F6F4A"/>
          </a:solidFill>
          <a:ln/>
        </p:spPr>
      </p:sp>
      <p:sp>
        <p:nvSpPr>
          <p:cNvPr id="40" name="Text 38"/>
          <p:cNvSpPr/>
          <p:nvPr/>
        </p:nvSpPr>
        <p:spPr>
          <a:xfrm>
            <a:off x="9436608" y="267919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36608" y="288950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mo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73768" y="3246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C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Intelligence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573768" y="3840480"/>
            <a:ext cx="1810512" cy="0"/>
          </a:xfrm>
          <a:prstGeom prst="line">
            <a:avLst/>
          </a:prstGeom>
          <a:noFill/>
          <a:ln w="9525">
            <a:solidFill>
              <a:srgbClr val="E7E5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73768" y="397764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walkthrough, structural overlay from OCR, savings / carbon / maintenance analytics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AI trustworthy.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product a platform.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redesign prioritizes the changes that make AI outputs explainable and the product genuinely multi-user — over purely cosmetic polish.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320040" cy="0"/>
          </a:xfrm>
          <a:prstGeom prst="line">
            <a:avLst/>
          </a:prstGeom>
          <a:noFill/>
          <a:ln w="25400">
            <a:solidFill>
              <a:srgbClr val="6FCF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4297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 —  </a:t>
            </a:r>
            <a:pPr indent="0" marL="0">
              <a:buNone/>
            </a:pPr>
            <a:r>
              <a:rPr lang="en-US" sz="1250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steps, one persistent, versioned module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320040" cy="0"/>
          </a:xfrm>
          <a:prstGeom prst="line">
            <a:avLst/>
          </a:prstGeom>
          <a:noFill/>
          <a:ln w="25400">
            <a:solidFill>
              <a:srgbClr val="6FC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709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 —  </a:t>
            </a:r>
            <a:pPr indent="0" marL="0">
              <a:buNone/>
            </a:pPr>
            <a:r>
              <a:rPr lang="en-US" sz="1250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reasoning on every output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303520"/>
            <a:ext cx="320040" cy="0"/>
          </a:xfrm>
          <a:prstGeom prst="line">
            <a:avLst/>
          </a:prstGeom>
          <a:noFill/>
          <a:ln w="25400">
            <a:solidFill>
              <a:srgbClr val="6FCF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5120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 —  </a:t>
            </a:r>
            <a:pPr indent="0" marL="0">
              <a:buNone/>
            </a:pPr>
            <a:r>
              <a:rPr lang="en-US" sz="1250" dirty="0">
                <a:solidFill>
                  <a:srgbClr val="9A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Homeowner, architect, contractor, supplier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2026-07-11T18:49:29Z</dcterms:created>
  <dcterms:modified xsi:type="dcterms:W3CDTF">2026-07-11T18:49:29Z</dcterms:modified>
</cp:coreProperties>
</file>